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4D1C4-0F3D-48F8-8396-A8C9B101E8F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DC512-91E0-418C-9882-B2961A3D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63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DC512-91E0-418C-9882-B2961A3D8A6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85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95ED-BE7C-C2E9-E8C9-A7D8F074F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29977-C1EE-01C4-61F2-71F3673DD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8882-F73C-62C7-0FBB-38192802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FEDE5-D1F3-3B6E-7575-411F41F3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E688F-13C4-6B56-3955-FF25465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6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46DD-25C1-F6B3-D212-5F01B625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863D-FE98-2E1C-B230-E6D5C3B0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9FCFB-A1D7-43D5-C0F2-AA3F22EA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8983-C431-C845-72F8-1101AC4C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BCC5-BC20-EB22-86C8-AEEB9842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2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E961-D760-6FF1-EC5A-95142162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AF9A-5339-02DB-DDB3-19B4B0FCE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24882-0ACF-ECD1-E52B-02BA84A0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4F17D-AFBD-323C-7FD3-9A8549A38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C4FF-F8E5-D034-C97D-7131536B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16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B42E-D382-7870-AD00-6B8DCD2B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E986-E494-833C-CB74-8B1B17D07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FFE94-040D-E5D0-F0D9-8B8B0735B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4AB36-8366-7C04-8023-C740D83E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E7B59-BC3D-19F4-BCAD-5131246B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830A9-50F7-8A63-6050-A8E9B063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66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6D49-8C6D-229E-23CC-25AC406B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AF0E0-681E-B6BE-98A5-CD4E2C5F7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38082-7D1D-DD5D-37E4-5A77916C6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F4F3D-1190-10A8-D81F-D1580C53B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38164-6C17-3E49-3299-E1862F495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90B9F-EBEA-3BEC-550E-FB44CD36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886BC-5256-A192-5681-AD9F2D66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AC3AD-F530-BB17-8BEF-CA40F95E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68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C9C23-24C3-4A32-2597-3DC63477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D6705-E76A-E759-D9D8-A9E2EC73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185C0-3128-CF32-61E1-F5BB0ACD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62E06-6DF1-7CE4-243A-DADF9A5E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9BC70-89C3-5803-A010-5ED00F6F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B92BE-8EA9-24EC-508E-67C0AC92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D6064-187E-3927-9BB1-36BC1699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1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33C3-F57E-8CD5-B66B-BC806927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9DC0A-540E-3D22-8329-117307A06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5D7A2-24C8-FBEA-0C5B-C629B2801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5600E-723A-A77E-A878-F91AC45F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E524-841A-906F-03E5-790D91AB0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EA7FA-CE8C-680B-EA33-AC50CC11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6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CFA9-D24D-D5A8-E7E4-3FCC096E5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E5C17-B297-0B0C-3D48-1F84E96F6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67EB6-F2B1-8B2D-C6A5-47331C82D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01649-AD19-5A4D-0BB9-B9AEB02A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B0C68-8B3D-16EE-6BE9-408C53FF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49896-9FF6-D5A0-9E97-E946E98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35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C991-CE63-2874-318F-DF8CF3C9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F7B8B-74F6-45F3-EF7C-B9735BE72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ECD57-821D-5936-3F67-9BDE3534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9370-AF50-4FB6-70EE-9C131A2F2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B17A-DB8F-F5F3-EF5B-A5020088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5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C5396-A1D0-960E-8AB4-7BDA1A1F0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A9E09-98CF-F2E6-521E-39131833B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F5DED-B174-8448-E15B-8DEC69DF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71B7-270A-28E4-9EDC-06730603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5F66-444C-9062-CC6F-6EC4006F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27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F9C25-70BF-9369-7D16-590A2530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027C-EA0E-5AD2-DC00-76EA2ED9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525F9-D083-10CA-2DB3-8EC7F154B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5524-6AAD-4ECC-A24E-31146C6C5DD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9B86A-99A9-6EEC-289C-1D99B7B0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4DF5-2A80-CD0F-321E-3000E1F11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EA76F-AD56-4139-B151-D73155DC20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3CAB1E-0236-4437-9AA4-B74137E7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</a:t>
            </a:r>
            <a:r>
              <a:rPr lang="en-US" sz="3200" b="1" dirty="0"/>
              <a:t>Total Customers By Excited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CDDDC-49E9-AA64-1B0D-B5A14C7D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155" y="1690688"/>
            <a:ext cx="5112774" cy="3001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0F8251-6B37-607E-D022-26D063734288}"/>
              </a:ext>
            </a:extLst>
          </p:cNvPr>
          <p:cNvSpPr txBox="1"/>
          <p:nvPr/>
        </p:nvSpPr>
        <p:spPr>
          <a:xfrm>
            <a:off x="7826478" y="2637193"/>
            <a:ext cx="4041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79.63% of customers are retained  (continue with the bank).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20.37% of customers have churned.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86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1788-018F-980B-801F-49A5D3AF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r>
              <a:rPr lang="en-US" sz="3200" b="1" dirty="0"/>
              <a:t>Total customers by Active Member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284AD-9E24-AD80-9CC6-1432F1D5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27" y="1769808"/>
            <a:ext cx="5683044" cy="33921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A4E40E-69E7-1812-0297-81EC10602381}"/>
              </a:ext>
            </a:extLst>
          </p:cNvPr>
          <p:cNvSpPr txBox="1"/>
          <p:nvPr/>
        </p:nvSpPr>
        <p:spPr>
          <a:xfrm>
            <a:off x="8347587" y="2536723"/>
            <a:ext cx="3274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52% of customers are active members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48% of customers are inactive members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74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6E5D-6738-FE77-5336-CEBA91C8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Customers by Gender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293772-6DCB-6A9A-F438-6FB9FA0E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9" y="1887793"/>
            <a:ext cx="6204154" cy="3362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328299-FB32-167A-F051-ACAD6BC352DA}"/>
              </a:ext>
            </a:extLst>
          </p:cNvPr>
          <p:cNvSpPr txBox="1"/>
          <p:nvPr/>
        </p:nvSpPr>
        <p:spPr>
          <a:xfrm>
            <a:off x="7452852" y="2143432"/>
            <a:ext cx="3765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</a:t>
            </a:r>
            <a:r>
              <a:rPr lang="en-IN" dirty="0"/>
              <a:t>ale customers(~5.5K) are slightly higher than female customers.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Female customers (~4.5K) form a significant portion, but are fewer than males</a:t>
            </a:r>
          </a:p>
        </p:txBody>
      </p:sp>
    </p:spTree>
    <p:extLst>
      <p:ext uri="{BB962C8B-B14F-4D97-AF65-F5344CB8AC3E}">
        <p14:creationId xmlns:p14="http://schemas.microsoft.com/office/powerpoint/2010/main" val="66137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C4A1-BB45-BEFB-14B4-94133648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customers by  Credit Card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E4585-410D-3BC9-4ED3-62F6ECDF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8631"/>
            <a:ext cx="5680588" cy="3401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093583-4DD8-DAC7-737E-50274EE30F17}"/>
              </a:ext>
            </a:extLst>
          </p:cNvPr>
          <p:cNvSpPr txBox="1"/>
          <p:nvPr/>
        </p:nvSpPr>
        <p:spPr>
          <a:xfrm>
            <a:off x="7472516" y="3195484"/>
            <a:ext cx="4257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70.55% of customers have credit card.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29.45% of customers do not have credit card.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88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3050-5C00-FC73-1D82-96D0EED5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Customers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581E-7781-3F19-242E-863B8CC34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1" y="1848004"/>
            <a:ext cx="6013423" cy="356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B75BB-00F5-64C0-F6AA-10C275AE743E}"/>
              </a:ext>
            </a:extLst>
          </p:cNvPr>
          <p:cNvSpPr txBox="1"/>
          <p:nvPr/>
        </p:nvSpPr>
        <p:spPr>
          <a:xfrm>
            <a:off x="7266039" y="3097161"/>
            <a:ext cx="4174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France has highest number of customers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Germany and  Spain have comparatively fewer customers.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13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138F-CF37-4450-F4AB-C6F344B6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16" y="432619"/>
            <a:ext cx="8750711" cy="963562"/>
          </a:xfrm>
        </p:spPr>
        <p:txBody>
          <a:bodyPr>
            <a:normAutofit/>
          </a:bodyPr>
          <a:lstStyle/>
          <a:p>
            <a:r>
              <a:rPr lang="en-US" sz="3200" b="1" dirty="0"/>
              <a:t>Total Customer By Geography and Churn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3AD7D-DB1A-3206-6E79-DBE77671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07459"/>
            <a:ext cx="6329516" cy="4247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AA5A11-C916-46A0-6FEB-08B9579275D6}"/>
              </a:ext>
            </a:extLst>
          </p:cNvPr>
          <p:cNvSpPr txBox="1"/>
          <p:nvPr/>
        </p:nvSpPr>
        <p:spPr>
          <a:xfrm>
            <a:off x="7787148" y="3057832"/>
            <a:ext cx="4129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France has the highest customer count with moderate churn.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Germany and Spain have fewer customers and lower churn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38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FE60-1F7E-1682-D022-184E27D9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Customers By No. Of Products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884A3-597A-2354-EA28-69A99CAB1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5782"/>
            <a:ext cx="5395452" cy="3215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BAC443-D1D2-F182-06F5-1AA1B8712FE9}"/>
              </a:ext>
            </a:extLst>
          </p:cNvPr>
          <p:cNvSpPr txBox="1"/>
          <p:nvPr/>
        </p:nvSpPr>
        <p:spPr>
          <a:xfrm>
            <a:off x="7138219" y="3234813"/>
            <a:ext cx="4296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Most customers have 1 product 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Very few have multiple products.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16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DE53-D66A-8810-ED1F-54FB6A0E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churn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FDC65-A0F8-E770-428F-7C876632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7962"/>
            <a:ext cx="5356123" cy="31758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030FA5-2339-2A1E-D380-2420955E58A0}"/>
              </a:ext>
            </a:extLst>
          </p:cNvPr>
          <p:cNvSpPr txBox="1"/>
          <p:nvPr/>
        </p:nvSpPr>
        <p:spPr>
          <a:xfrm>
            <a:off x="7374192" y="2871019"/>
            <a:ext cx="3979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France ~50% customers.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Germany &amp; Spain ~25% each.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29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4341-C68D-F3D1-52D1-9D45096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Active Members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C2231-97FF-4380-1C48-77C250B88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153265"/>
            <a:ext cx="5149644" cy="3274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A7427-E098-D3BA-FD97-041D4BD40B4C}"/>
              </a:ext>
            </a:extLst>
          </p:cNvPr>
          <p:cNvSpPr txBox="1"/>
          <p:nvPr/>
        </p:nvSpPr>
        <p:spPr>
          <a:xfrm>
            <a:off x="7128387" y="3637935"/>
            <a:ext cx="422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Germany has the highest active members.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Spain &amp; France have nearly equal, lower counts.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21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CA49-14BB-6D46-A946-0A78CA8C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Credit Card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B5CB6-DA6D-624C-D48E-C74DFD6C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56620"/>
            <a:ext cx="5257800" cy="3106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887580-CEB1-9DE6-52A1-F17464B65327}"/>
              </a:ext>
            </a:extLst>
          </p:cNvPr>
          <p:cNvSpPr txBox="1"/>
          <p:nvPr/>
        </p:nvSpPr>
        <p:spPr>
          <a:xfrm>
            <a:off x="6892413" y="3952568"/>
            <a:ext cx="4640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Germany accounts for the highest share of total credit cards.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France and Spain contribute smaller, nearby equal portions.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35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3B21-7ABA-FE86-C9D9-9C5C8B99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Total Credit Score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F3065-C748-6173-41E6-DA554E9F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76284"/>
            <a:ext cx="4658032" cy="3637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41F906-3579-EBB4-6835-CD0659DA19D5}"/>
              </a:ext>
            </a:extLst>
          </p:cNvPr>
          <p:cNvSpPr txBox="1"/>
          <p:nvPr/>
        </p:nvSpPr>
        <p:spPr>
          <a:xfrm>
            <a:off x="6572866" y="2880851"/>
            <a:ext cx="494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France has the highest total credit score.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Spain and Germany have lower and similar scores.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17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09FB-2CA1-3118-71F7-C710C9A1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Estimated Salary By Geography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F8BBA-C745-950D-25FF-6D54C932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660923" cy="3658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E9C2D9-9F14-9489-1FF9-6394DA29951D}"/>
              </a:ext>
            </a:extLst>
          </p:cNvPr>
          <p:cNvSpPr txBox="1"/>
          <p:nvPr/>
        </p:nvSpPr>
        <p:spPr>
          <a:xfrm>
            <a:off x="7167716" y="3775587"/>
            <a:ext cx="442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France leads in estimated salary.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Germany &amp; Spain trail behind.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62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1641-A3F8-EEC2-FCFE-DBAD8DE0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Average Balance By Geography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0747D-05A8-4A54-A581-3B82E8991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76283"/>
            <a:ext cx="5061154" cy="3470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03E59D-DA7A-BF4D-8CA4-BC12F0664D74}"/>
              </a:ext>
            </a:extLst>
          </p:cNvPr>
          <p:cNvSpPr txBox="1"/>
          <p:nvPr/>
        </p:nvSpPr>
        <p:spPr>
          <a:xfrm>
            <a:off x="7561006" y="3224981"/>
            <a:ext cx="3608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Germany leads in average balance.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France &amp; Spain are lower.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85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D364-D18B-6364-A97C-7452638A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  Churn Rate(%) By Age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31CF0-7D06-013A-FA14-F70938C9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6285"/>
            <a:ext cx="6673645" cy="36477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885A6D-5336-120B-9175-D0AE60B5F80F}"/>
              </a:ext>
            </a:extLst>
          </p:cNvPr>
          <p:cNvSpPr txBox="1"/>
          <p:nvPr/>
        </p:nvSpPr>
        <p:spPr>
          <a:xfrm>
            <a:off x="7983795" y="2959510"/>
            <a:ext cx="3370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Low Churn at young 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Highest churn in middle to older 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555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D61A-DB35-F6F8-B935-8D16E69F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          Churn Vs Balance Heatmap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E04BE-FC70-D916-90E9-01F2D542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7" y="1927123"/>
            <a:ext cx="6459794" cy="3892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33F4FD-600B-B108-FCEC-F8DB34F079AE}"/>
              </a:ext>
            </a:extLst>
          </p:cNvPr>
          <p:cNvSpPr txBox="1"/>
          <p:nvPr/>
        </p:nvSpPr>
        <p:spPr>
          <a:xfrm>
            <a:off x="8308258" y="2949677"/>
            <a:ext cx="3303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Higher Balance customers show higher churn.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Low balance customers churn less.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662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181B-4EF5-8E54-0F14-FFC3B113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          Churn By Product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703BE-A592-0244-EBD1-E18355E6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45" y="1858298"/>
            <a:ext cx="5975555" cy="33921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8B9AD3-62E8-2AAD-95AE-B2D2CE3A7FEB}"/>
              </a:ext>
            </a:extLst>
          </p:cNvPr>
          <p:cNvSpPr txBox="1"/>
          <p:nvPr/>
        </p:nvSpPr>
        <p:spPr>
          <a:xfrm>
            <a:off x="7708490" y="3559277"/>
            <a:ext cx="3932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More products -&gt; Higher Churn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 product customers have the highest churn.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75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AC84-412B-A019-F282-A1F2C637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          Credit Score Vs Churn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D3EB8-90D8-5159-764B-3373BD853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110"/>
            <a:ext cx="5257800" cy="3146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312394-36EA-196A-6951-CC58E5EEB1E2}"/>
              </a:ext>
            </a:extLst>
          </p:cNvPr>
          <p:cNvSpPr txBox="1"/>
          <p:nvPr/>
        </p:nvSpPr>
        <p:spPr>
          <a:xfrm>
            <a:off x="7629833" y="2930013"/>
            <a:ext cx="410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Higher credit score -&gt; less churn.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30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348</Words>
  <Application>Microsoft Office PowerPoint</Application>
  <PresentationFormat>Widescreen</PresentationFormat>
  <Paragraphs>51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      Total Customers By Excited</vt:lpstr>
      <vt:lpstr>   Total customers by Active Member</vt:lpstr>
      <vt:lpstr>Total Customers by Gender</vt:lpstr>
      <vt:lpstr>Total customers by  Credit Card</vt:lpstr>
      <vt:lpstr>Total Customers By Geography</vt:lpstr>
      <vt:lpstr>Total Customer By Geography and Churn</vt:lpstr>
      <vt:lpstr>Total Customers By No. Of Products</vt:lpstr>
      <vt:lpstr>Total churn by Geography</vt:lpstr>
      <vt:lpstr>Total Active Members By Geography</vt:lpstr>
      <vt:lpstr>Total Credit Card By Geography</vt:lpstr>
      <vt:lpstr>Total Credit Score by Geography</vt:lpstr>
      <vt:lpstr>Estimated Salary By Geography</vt:lpstr>
      <vt:lpstr>Average Balance By Geography</vt:lpstr>
      <vt:lpstr>  Churn Rate(%) By Age</vt:lpstr>
      <vt:lpstr>          Churn Vs Balance Heatmap</vt:lpstr>
      <vt:lpstr>          Churn By Product</vt:lpstr>
      <vt:lpstr>          Credit Score Vs Churn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rasna askar</dc:creator>
  <cp:lastModifiedBy>rasna askar</cp:lastModifiedBy>
  <cp:revision>3</cp:revision>
  <dcterms:created xsi:type="dcterms:W3CDTF">2026-01-28T08:35:54Z</dcterms:created>
  <dcterms:modified xsi:type="dcterms:W3CDTF">2026-02-03T07:29:01Z</dcterms:modified>
</cp:coreProperties>
</file>